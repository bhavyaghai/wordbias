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3"/>
  </p:notesMasterIdLst>
  <p:handoutMasterIdLst>
    <p:handoutMasterId r:id="rId4"/>
  </p:handoutMasterIdLst>
  <p:sldIdLst>
    <p:sldId id="256" r:id="rId2"/>
  </p:sldIdLst>
  <p:sldSz cx="9906000" cy="6858000" type="A4"/>
  <p:notesSz cx="10234613" cy="710406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3657" autoAdjust="0"/>
    <p:restoredTop sz="96807" autoAdjust="0"/>
  </p:normalViewPr>
  <p:slideViewPr>
    <p:cSldViewPr snapToGrid="0">
      <p:cViewPr varScale="1">
        <p:scale>
          <a:sx n="130" d="100"/>
          <a:sy n="130" d="100"/>
        </p:scale>
        <p:origin x="1548"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8954421-1790-491C-8A20-B3FB86B985EE}"/>
              </a:ext>
            </a:extLst>
          </p:cNvPr>
          <p:cNvSpPr>
            <a:spLocks noGrp="1"/>
          </p:cNvSpPr>
          <p:nvPr>
            <p:ph type="hdr" sz="quarter"/>
          </p:nvPr>
        </p:nvSpPr>
        <p:spPr>
          <a:xfrm>
            <a:off x="5" y="4"/>
            <a:ext cx="4435443" cy="355909"/>
          </a:xfrm>
          <a:prstGeom prst="rect">
            <a:avLst/>
          </a:prstGeom>
        </p:spPr>
        <p:txBody>
          <a:bodyPr vert="horz" lIns="93676" tIns="46836" rIns="93676" bIns="46836" rtlCol="0"/>
          <a:lstStyle>
            <a:lvl1pPr algn="l">
              <a:defRPr sz="1400"/>
            </a:lvl1pPr>
          </a:lstStyle>
          <a:p>
            <a:endParaRPr lang="en-US"/>
          </a:p>
        </p:txBody>
      </p:sp>
      <p:sp>
        <p:nvSpPr>
          <p:cNvPr id="3" name="Date Placeholder 2">
            <a:extLst>
              <a:ext uri="{FF2B5EF4-FFF2-40B4-BE49-F238E27FC236}">
                <a16:creationId xmlns:a16="http://schemas.microsoft.com/office/drawing/2014/main" id="{006699FC-69A3-4B09-8A64-A9AF60BABA5A}"/>
              </a:ext>
            </a:extLst>
          </p:cNvPr>
          <p:cNvSpPr>
            <a:spLocks noGrp="1"/>
          </p:cNvSpPr>
          <p:nvPr>
            <p:ph type="dt" sz="quarter" idx="1"/>
          </p:nvPr>
        </p:nvSpPr>
        <p:spPr>
          <a:xfrm>
            <a:off x="5796953" y="4"/>
            <a:ext cx="4435443" cy="355909"/>
          </a:xfrm>
          <a:prstGeom prst="rect">
            <a:avLst/>
          </a:prstGeom>
        </p:spPr>
        <p:txBody>
          <a:bodyPr vert="horz" lIns="93676" tIns="46836" rIns="93676" bIns="46836" rtlCol="0"/>
          <a:lstStyle>
            <a:lvl1pPr algn="r">
              <a:defRPr sz="1400"/>
            </a:lvl1pPr>
          </a:lstStyle>
          <a:p>
            <a:fld id="{287BFFB9-1AA1-45DD-80AF-62E6D03035AF}" type="datetimeFigureOut">
              <a:rPr lang="en-US" smtClean="0"/>
              <a:t>3/18/2021</a:t>
            </a:fld>
            <a:endParaRPr lang="en-US"/>
          </a:p>
        </p:txBody>
      </p:sp>
      <p:sp>
        <p:nvSpPr>
          <p:cNvPr id="4" name="Footer Placeholder 3">
            <a:extLst>
              <a:ext uri="{FF2B5EF4-FFF2-40B4-BE49-F238E27FC236}">
                <a16:creationId xmlns:a16="http://schemas.microsoft.com/office/drawing/2014/main" id="{EF754B95-966C-4DD6-80D7-EAB750C84764}"/>
              </a:ext>
            </a:extLst>
          </p:cNvPr>
          <p:cNvSpPr>
            <a:spLocks noGrp="1"/>
          </p:cNvSpPr>
          <p:nvPr>
            <p:ph type="ftr" sz="quarter" idx="2"/>
          </p:nvPr>
        </p:nvSpPr>
        <p:spPr>
          <a:xfrm>
            <a:off x="5" y="6748162"/>
            <a:ext cx="4435443" cy="355907"/>
          </a:xfrm>
          <a:prstGeom prst="rect">
            <a:avLst/>
          </a:prstGeom>
        </p:spPr>
        <p:txBody>
          <a:bodyPr vert="horz" lIns="93676" tIns="46836" rIns="93676" bIns="46836" rtlCol="0" anchor="b"/>
          <a:lstStyle>
            <a:lvl1pPr algn="l">
              <a:defRPr sz="1400"/>
            </a:lvl1pPr>
          </a:lstStyle>
          <a:p>
            <a:endParaRPr lang="en-US"/>
          </a:p>
        </p:txBody>
      </p:sp>
      <p:sp>
        <p:nvSpPr>
          <p:cNvPr id="5" name="Slide Number Placeholder 4">
            <a:extLst>
              <a:ext uri="{FF2B5EF4-FFF2-40B4-BE49-F238E27FC236}">
                <a16:creationId xmlns:a16="http://schemas.microsoft.com/office/drawing/2014/main" id="{D1EE90D2-5AA5-4C41-B6AE-B0B4C09EEECA}"/>
              </a:ext>
            </a:extLst>
          </p:cNvPr>
          <p:cNvSpPr>
            <a:spLocks noGrp="1"/>
          </p:cNvSpPr>
          <p:nvPr>
            <p:ph type="sldNum" sz="quarter" idx="3"/>
          </p:nvPr>
        </p:nvSpPr>
        <p:spPr>
          <a:xfrm>
            <a:off x="5796953" y="6748162"/>
            <a:ext cx="4435443" cy="355907"/>
          </a:xfrm>
          <a:prstGeom prst="rect">
            <a:avLst/>
          </a:prstGeom>
        </p:spPr>
        <p:txBody>
          <a:bodyPr vert="horz" lIns="93676" tIns="46836" rIns="93676" bIns="46836" rtlCol="0" anchor="b"/>
          <a:lstStyle>
            <a:lvl1pPr algn="r">
              <a:defRPr sz="1400"/>
            </a:lvl1pPr>
          </a:lstStyle>
          <a:p>
            <a:fld id="{C4CA791B-C68A-4F85-8D8B-6C420A743873}" type="slidenum">
              <a:rPr lang="en-US" smtClean="0"/>
              <a:t>‹#›</a:t>
            </a:fld>
            <a:endParaRPr lang="en-US"/>
          </a:p>
        </p:txBody>
      </p:sp>
    </p:spTree>
    <p:extLst>
      <p:ext uri="{BB962C8B-B14F-4D97-AF65-F5344CB8AC3E}">
        <p14:creationId xmlns:p14="http://schemas.microsoft.com/office/powerpoint/2010/main" val="2872817755"/>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5" y="4"/>
            <a:ext cx="4435443" cy="355909"/>
          </a:xfrm>
          <a:prstGeom prst="rect">
            <a:avLst/>
          </a:prstGeom>
        </p:spPr>
        <p:txBody>
          <a:bodyPr vert="horz" lIns="93676" tIns="46836" rIns="93676" bIns="46836" rtlCol="0"/>
          <a:lstStyle>
            <a:lvl1pPr algn="l">
              <a:defRPr sz="1400"/>
            </a:lvl1pPr>
          </a:lstStyle>
          <a:p>
            <a:endParaRPr lang="en-US"/>
          </a:p>
        </p:txBody>
      </p:sp>
      <p:sp>
        <p:nvSpPr>
          <p:cNvPr id="3" name="Date Placeholder 2"/>
          <p:cNvSpPr>
            <a:spLocks noGrp="1"/>
          </p:cNvSpPr>
          <p:nvPr>
            <p:ph type="dt" idx="1"/>
          </p:nvPr>
        </p:nvSpPr>
        <p:spPr>
          <a:xfrm>
            <a:off x="5796953" y="4"/>
            <a:ext cx="4435443" cy="355909"/>
          </a:xfrm>
          <a:prstGeom prst="rect">
            <a:avLst/>
          </a:prstGeom>
        </p:spPr>
        <p:txBody>
          <a:bodyPr vert="horz" lIns="93676" tIns="46836" rIns="93676" bIns="46836" rtlCol="0"/>
          <a:lstStyle>
            <a:lvl1pPr algn="r">
              <a:defRPr sz="1400"/>
            </a:lvl1pPr>
          </a:lstStyle>
          <a:p>
            <a:fld id="{672B5097-66BC-476E-80C8-B760603B97C9}" type="datetimeFigureOut">
              <a:rPr lang="en-US" smtClean="0"/>
              <a:t>3/18/2021</a:t>
            </a:fld>
            <a:endParaRPr lang="en-US"/>
          </a:p>
        </p:txBody>
      </p:sp>
      <p:sp>
        <p:nvSpPr>
          <p:cNvPr id="4" name="Slide Image Placeholder 3"/>
          <p:cNvSpPr>
            <a:spLocks noGrp="1" noRot="1" noChangeAspect="1"/>
          </p:cNvSpPr>
          <p:nvPr>
            <p:ph type="sldImg" idx="2"/>
          </p:nvPr>
        </p:nvSpPr>
        <p:spPr>
          <a:xfrm>
            <a:off x="3386138" y="887413"/>
            <a:ext cx="3465512" cy="2400300"/>
          </a:xfrm>
          <a:prstGeom prst="rect">
            <a:avLst/>
          </a:prstGeom>
          <a:noFill/>
          <a:ln w="12700">
            <a:solidFill>
              <a:prstClr val="black"/>
            </a:solidFill>
          </a:ln>
        </p:spPr>
        <p:txBody>
          <a:bodyPr vert="horz" lIns="93676" tIns="46836" rIns="93676" bIns="46836" rtlCol="0" anchor="ctr"/>
          <a:lstStyle/>
          <a:p>
            <a:endParaRPr lang="en-US"/>
          </a:p>
        </p:txBody>
      </p:sp>
      <p:sp>
        <p:nvSpPr>
          <p:cNvPr id="5" name="Notes Placeholder 4"/>
          <p:cNvSpPr>
            <a:spLocks noGrp="1"/>
          </p:cNvSpPr>
          <p:nvPr>
            <p:ph type="body" sz="quarter" idx="3"/>
          </p:nvPr>
        </p:nvSpPr>
        <p:spPr>
          <a:xfrm>
            <a:off x="1023909" y="3419304"/>
            <a:ext cx="8186805" cy="2796754"/>
          </a:xfrm>
          <a:prstGeom prst="rect">
            <a:avLst/>
          </a:prstGeom>
        </p:spPr>
        <p:txBody>
          <a:bodyPr vert="horz" lIns="93676" tIns="46836" rIns="93676" bIns="4683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5" y="6748162"/>
            <a:ext cx="4435443" cy="355907"/>
          </a:xfrm>
          <a:prstGeom prst="rect">
            <a:avLst/>
          </a:prstGeom>
        </p:spPr>
        <p:txBody>
          <a:bodyPr vert="horz" lIns="93676" tIns="46836" rIns="93676" bIns="46836" rtlCol="0" anchor="b"/>
          <a:lstStyle>
            <a:lvl1pPr algn="l">
              <a:defRPr sz="1400"/>
            </a:lvl1pPr>
          </a:lstStyle>
          <a:p>
            <a:endParaRPr lang="en-US"/>
          </a:p>
        </p:txBody>
      </p:sp>
      <p:sp>
        <p:nvSpPr>
          <p:cNvPr id="7" name="Slide Number Placeholder 6"/>
          <p:cNvSpPr>
            <a:spLocks noGrp="1"/>
          </p:cNvSpPr>
          <p:nvPr>
            <p:ph type="sldNum" sz="quarter" idx="5"/>
          </p:nvPr>
        </p:nvSpPr>
        <p:spPr>
          <a:xfrm>
            <a:off x="5796953" y="6748162"/>
            <a:ext cx="4435443" cy="355907"/>
          </a:xfrm>
          <a:prstGeom prst="rect">
            <a:avLst/>
          </a:prstGeom>
        </p:spPr>
        <p:txBody>
          <a:bodyPr vert="horz" lIns="93676" tIns="46836" rIns="93676" bIns="46836" rtlCol="0" anchor="b"/>
          <a:lstStyle>
            <a:lvl1pPr algn="r">
              <a:defRPr sz="1400"/>
            </a:lvl1pPr>
          </a:lstStyle>
          <a:p>
            <a:fld id="{25532323-7487-41F4-90E2-B1743737C0F0}" type="slidenum">
              <a:rPr lang="en-US" smtClean="0"/>
              <a:t>‹#›</a:t>
            </a:fld>
            <a:endParaRPr lang="en-US"/>
          </a:p>
        </p:txBody>
      </p:sp>
    </p:spTree>
    <p:extLst>
      <p:ext uri="{BB962C8B-B14F-4D97-AF65-F5344CB8AC3E}">
        <p14:creationId xmlns:p14="http://schemas.microsoft.com/office/powerpoint/2010/main" val="1564091469"/>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F92A92A-46FC-4B48-BABE-3B80FA7AFDDD}" type="datetime1">
              <a:rPr lang="en-US" smtClean="0"/>
              <a:t>3/18/2021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12ED69-3FA0-42ED-993F-738EEF3F658B}" type="slidenum">
              <a:rPr lang="en-US" smtClean="0"/>
              <a:t>‹#›</a:t>
            </a:fld>
            <a:endParaRPr lang="en-US"/>
          </a:p>
        </p:txBody>
      </p:sp>
    </p:spTree>
    <p:extLst>
      <p:ext uri="{BB962C8B-B14F-4D97-AF65-F5344CB8AC3E}">
        <p14:creationId xmlns:p14="http://schemas.microsoft.com/office/powerpoint/2010/main" val="28880637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78586E-B69C-4960-8420-359F3E8E45A3}" type="datetime1">
              <a:rPr lang="en-US" smtClean="0"/>
              <a:t>3/18/2021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12ED69-3FA0-42ED-993F-738EEF3F658B}" type="slidenum">
              <a:rPr lang="en-US" smtClean="0"/>
              <a:t>‹#›</a:t>
            </a:fld>
            <a:endParaRPr lang="en-US"/>
          </a:p>
        </p:txBody>
      </p:sp>
    </p:spTree>
    <p:extLst>
      <p:ext uri="{BB962C8B-B14F-4D97-AF65-F5344CB8AC3E}">
        <p14:creationId xmlns:p14="http://schemas.microsoft.com/office/powerpoint/2010/main" val="3647728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39F476-A6CB-45D4-89C1-A4D6459EB3FC}" type="datetime1">
              <a:rPr lang="en-US" smtClean="0"/>
              <a:t>3/18/2021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12ED69-3FA0-42ED-993F-738EEF3F658B}" type="slidenum">
              <a:rPr lang="en-US" smtClean="0"/>
              <a:t>‹#›</a:t>
            </a:fld>
            <a:endParaRPr lang="en-US"/>
          </a:p>
        </p:txBody>
      </p:sp>
    </p:spTree>
    <p:extLst>
      <p:ext uri="{BB962C8B-B14F-4D97-AF65-F5344CB8AC3E}">
        <p14:creationId xmlns:p14="http://schemas.microsoft.com/office/powerpoint/2010/main" val="1729969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2800353-7E66-4209-88B4-08AFFC9C3F18}" type="datetime1">
              <a:rPr lang="en-US" smtClean="0"/>
              <a:t>3/18/2021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12ED69-3FA0-42ED-993F-738EEF3F658B}" type="slidenum">
              <a:rPr lang="en-US" smtClean="0"/>
              <a:t>‹#›</a:t>
            </a:fld>
            <a:endParaRPr lang="en-US"/>
          </a:p>
        </p:txBody>
      </p:sp>
    </p:spTree>
    <p:extLst>
      <p:ext uri="{BB962C8B-B14F-4D97-AF65-F5344CB8AC3E}">
        <p14:creationId xmlns:p14="http://schemas.microsoft.com/office/powerpoint/2010/main" val="4124907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A24BFF4-2F21-441E-B381-489588D6736C}" type="datetime1">
              <a:rPr lang="en-US" smtClean="0"/>
              <a:t>3/18/2021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B12ED69-3FA0-42ED-993F-738EEF3F658B}" type="slidenum">
              <a:rPr lang="en-US" smtClean="0"/>
              <a:t>‹#›</a:t>
            </a:fld>
            <a:endParaRPr lang="en-US"/>
          </a:p>
        </p:txBody>
      </p:sp>
    </p:spTree>
    <p:extLst>
      <p:ext uri="{BB962C8B-B14F-4D97-AF65-F5344CB8AC3E}">
        <p14:creationId xmlns:p14="http://schemas.microsoft.com/office/powerpoint/2010/main" val="1898067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4626E6F-DDD5-40D4-B81E-011740AD4BBC}" type="datetime1">
              <a:rPr lang="en-US" smtClean="0"/>
              <a:t>3/18/2021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12ED69-3FA0-42ED-993F-738EEF3F658B}" type="slidenum">
              <a:rPr lang="en-US" smtClean="0"/>
              <a:t>‹#›</a:t>
            </a:fld>
            <a:endParaRPr lang="en-US"/>
          </a:p>
        </p:txBody>
      </p:sp>
    </p:spTree>
    <p:extLst>
      <p:ext uri="{BB962C8B-B14F-4D97-AF65-F5344CB8AC3E}">
        <p14:creationId xmlns:p14="http://schemas.microsoft.com/office/powerpoint/2010/main" val="2227793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4FAC3A-C7C9-4388-A60F-55FB70AE71F7}" type="datetime1">
              <a:rPr lang="en-US" smtClean="0"/>
              <a:t>3/18/2021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B12ED69-3FA0-42ED-993F-738EEF3F658B}" type="slidenum">
              <a:rPr lang="en-US" smtClean="0"/>
              <a:t>‹#›</a:t>
            </a:fld>
            <a:endParaRPr lang="en-US"/>
          </a:p>
        </p:txBody>
      </p:sp>
    </p:spTree>
    <p:extLst>
      <p:ext uri="{BB962C8B-B14F-4D97-AF65-F5344CB8AC3E}">
        <p14:creationId xmlns:p14="http://schemas.microsoft.com/office/powerpoint/2010/main" val="2503653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C4C230-3F45-4210-9C56-B96D96D60213}" type="datetime1">
              <a:rPr lang="en-US" smtClean="0"/>
              <a:t>3/18/2021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12ED69-3FA0-42ED-993F-738EEF3F658B}" type="slidenum">
              <a:rPr lang="en-US" smtClean="0"/>
              <a:t>‹#›</a:t>
            </a:fld>
            <a:endParaRPr lang="en-US"/>
          </a:p>
        </p:txBody>
      </p:sp>
    </p:spTree>
    <p:extLst>
      <p:ext uri="{BB962C8B-B14F-4D97-AF65-F5344CB8AC3E}">
        <p14:creationId xmlns:p14="http://schemas.microsoft.com/office/powerpoint/2010/main" val="1181930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89CE8D8-4E7E-4668-BF23-37752045ADB2}" type="datetime1">
              <a:rPr lang="en-US" smtClean="0"/>
              <a:t>3/18/2021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12ED69-3FA0-42ED-993F-738EEF3F658B}" type="slidenum">
              <a:rPr lang="en-US" smtClean="0"/>
              <a:t>‹#›</a:t>
            </a:fld>
            <a:endParaRPr lang="en-US"/>
          </a:p>
        </p:txBody>
      </p:sp>
    </p:spTree>
    <p:extLst>
      <p:ext uri="{BB962C8B-B14F-4D97-AF65-F5344CB8AC3E}">
        <p14:creationId xmlns:p14="http://schemas.microsoft.com/office/powerpoint/2010/main" val="2293183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9C120E-C3F3-4D35-88DF-9BC36F04ADDD}" type="datetime1">
              <a:rPr lang="en-US" smtClean="0"/>
              <a:t>3/18/2021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12ED69-3FA0-42ED-993F-738EEF3F658B}" type="slidenum">
              <a:rPr lang="en-US" smtClean="0"/>
              <a:t>‹#›</a:t>
            </a:fld>
            <a:endParaRPr lang="en-US"/>
          </a:p>
        </p:txBody>
      </p:sp>
    </p:spTree>
    <p:extLst>
      <p:ext uri="{BB962C8B-B14F-4D97-AF65-F5344CB8AC3E}">
        <p14:creationId xmlns:p14="http://schemas.microsoft.com/office/powerpoint/2010/main" val="4633226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0A7097-26E8-4471-B388-C0DBE1CFC71E}" type="datetime1">
              <a:rPr lang="en-US" smtClean="0"/>
              <a:t>3/18/2021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12ED69-3FA0-42ED-993F-738EEF3F658B}" type="slidenum">
              <a:rPr lang="en-US" smtClean="0"/>
              <a:t>‹#›</a:t>
            </a:fld>
            <a:endParaRPr lang="en-US"/>
          </a:p>
        </p:txBody>
      </p:sp>
    </p:spTree>
    <p:extLst>
      <p:ext uri="{BB962C8B-B14F-4D97-AF65-F5344CB8AC3E}">
        <p14:creationId xmlns:p14="http://schemas.microsoft.com/office/powerpoint/2010/main" val="3528541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795BA4-8ECF-4722-BFC1-5662B4160C92}" type="datetime1">
              <a:rPr lang="en-US" smtClean="0"/>
              <a:t>3/18/2021</a:t>
            </a:fld>
            <a:endParaRPr 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12ED69-3FA0-42ED-993F-738EEF3F658B}" type="slidenum">
              <a:rPr lang="en-US" smtClean="0"/>
              <a:t>‹#›</a:t>
            </a:fld>
            <a:endParaRPr lang="en-US"/>
          </a:p>
        </p:txBody>
      </p:sp>
    </p:spTree>
    <p:extLst>
      <p:ext uri="{BB962C8B-B14F-4D97-AF65-F5344CB8AC3E}">
        <p14:creationId xmlns:p14="http://schemas.microsoft.com/office/powerpoint/2010/main" val="410539071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F8CBC7-FE92-406D-971E-7E3E3986DD9D}"/>
              </a:ext>
            </a:extLst>
          </p:cNvPr>
          <p:cNvSpPr/>
          <p:nvPr/>
        </p:nvSpPr>
        <p:spPr>
          <a:xfrm>
            <a:off x="0" y="3649"/>
            <a:ext cx="9906000" cy="679032"/>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00" b="1" dirty="0">
                <a:solidFill>
                  <a:srgbClr val="002060"/>
                </a:solidFill>
              </a:rPr>
              <a:t>WordBias: An Interactive Visual Tool for Discovering Intersectional Biases Encoded in Word Embeddings</a:t>
            </a:r>
          </a:p>
          <a:p>
            <a:pPr algn="ctr"/>
            <a:r>
              <a:rPr lang="en-US" sz="1200" dirty="0">
                <a:solidFill>
                  <a:srgbClr val="002060"/>
                </a:solidFill>
              </a:rPr>
              <a:t>Bhavya Ghai, Md Naimul Hoque, Klaus Mueller</a:t>
            </a:r>
          </a:p>
          <a:p>
            <a:pPr algn="ctr"/>
            <a:r>
              <a:rPr lang="en-US" sz="1200" dirty="0">
                <a:solidFill>
                  <a:srgbClr val="002060"/>
                </a:solidFill>
              </a:rPr>
              <a:t>Stony Brook University, USA</a:t>
            </a:r>
          </a:p>
        </p:txBody>
      </p:sp>
      <p:pic>
        <p:nvPicPr>
          <p:cNvPr id="16" name="Picture 15" descr="A picture containing object&#10;&#10;Description generated with very high confidence">
            <a:extLst>
              <a:ext uri="{FF2B5EF4-FFF2-40B4-BE49-F238E27FC236}">
                <a16:creationId xmlns:a16="http://schemas.microsoft.com/office/drawing/2014/main" id="{5DF2D321-00A5-4B05-8B26-1A885983E7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350" y="6644640"/>
            <a:ext cx="973550" cy="187497"/>
          </a:xfrm>
          <a:prstGeom prst="rect">
            <a:avLst/>
          </a:prstGeom>
        </p:spPr>
      </p:pic>
      <p:sp>
        <p:nvSpPr>
          <p:cNvPr id="17" name="Title 1">
            <a:extLst>
              <a:ext uri="{FF2B5EF4-FFF2-40B4-BE49-F238E27FC236}">
                <a16:creationId xmlns:a16="http://schemas.microsoft.com/office/drawing/2014/main" id="{E7C2751A-DC71-4A58-B606-63691B2E218E}"/>
              </a:ext>
            </a:extLst>
          </p:cNvPr>
          <p:cNvSpPr txBox="1">
            <a:spLocks/>
          </p:cNvSpPr>
          <p:nvPr/>
        </p:nvSpPr>
        <p:spPr>
          <a:xfrm>
            <a:off x="1758899" y="765448"/>
            <a:ext cx="809331" cy="19117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400" b="1" dirty="0">
                <a:solidFill>
                  <a:srgbClr val="002060"/>
                </a:solidFill>
                <a:latin typeface="+mn-lt"/>
              </a:rPr>
              <a:t>Abstract</a:t>
            </a:r>
          </a:p>
        </p:txBody>
      </p:sp>
      <p:sp>
        <p:nvSpPr>
          <p:cNvPr id="18" name="TextBox 17">
            <a:extLst>
              <a:ext uri="{FF2B5EF4-FFF2-40B4-BE49-F238E27FC236}">
                <a16:creationId xmlns:a16="http://schemas.microsoft.com/office/drawing/2014/main" id="{7B8FABE6-3427-4006-9915-9705AA530E25}"/>
              </a:ext>
            </a:extLst>
          </p:cNvPr>
          <p:cNvSpPr txBox="1"/>
          <p:nvPr/>
        </p:nvSpPr>
        <p:spPr>
          <a:xfrm>
            <a:off x="196119" y="917832"/>
            <a:ext cx="3842481" cy="2200602"/>
          </a:xfrm>
          <a:prstGeom prst="rect">
            <a:avLst/>
          </a:prstGeom>
          <a:noFill/>
        </p:spPr>
        <p:txBody>
          <a:bodyPr wrap="square" rtlCol="0">
            <a:spAutoFit/>
          </a:bodyPr>
          <a:lstStyle/>
          <a:p>
            <a:pPr algn="just"/>
            <a:r>
              <a:rPr lang="en-US" sz="1100" dirty="0"/>
              <a:t>Intersectional bias is a bias caused by an overlap of multiple social factors like gender, sexuality, race, disability, religion, etc. Word embedding models can be laden with biases against intersectional groups like African American females. We present WordBias, an interactive visual tool designed to explore biases against intersectional groups encoded in word embeddings. Identifying such biases will serve as the first step in deterring their spread and help develop counter strategies. </a:t>
            </a:r>
          </a:p>
          <a:p>
            <a:pPr algn="just"/>
            <a:r>
              <a:rPr lang="en-US" sz="1100" dirty="0"/>
              <a:t>WordBias can be used as an </a:t>
            </a:r>
            <a:r>
              <a:rPr lang="en-US" sz="1100" i="1" dirty="0"/>
              <a:t>Auditing tool</a:t>
            </a:r>
            <a:r>
              <a:rPr lang="en-US" sz="1100" dirty="0"/>
              <a:t> by data scientists, </a:t>
            </a:r>
            <a:r>
              <a:rPr lang="en-US" sz="1100" i="1" dirty="0"/>
              <a:t>Educational tool</a:t>
            </a:r>
            <a:r>
              <a:rPr lang="en-US" sz="1100" dirty="0"/>
              <a:t> by students/non-experts and to expedite the bias discovery process by researchers. </a:t>
            </a:r>
          </a:p>
          <a:p>
            <a:pPr algn="just"/>
            <a:endParaRPr lang="en-US" sz="1100" dirty="0"/>
          </a:p>
        </p:txBody>
      </p:sp>
      <p:sp>
        <p:nvSpPr>
          <p:cNvPr id="19" name="Title 1">
            <a:extLst>
              <a:ext uri="{FF2B5EF4-FFF2-40B4-BE49-F238E27FC236}">
                <a16:creationId xmlns:a16="http://schemas.microsoft.com/office/drawing/2014/main" id="{0C88B941-3CF1-44AF-854B-101F9DC7F478}"/>
              </a:ext>
            </a:extLst>
          </p:cNvPr>
          <p:cNvSpPr txBox="1">
            <a:spLocks/>
          </p:cNvSpPr>
          <p:nvPr/>
        </p:nvSpPr>
        <p:spPr>
          <a:xfrm>
            <a:off x="6491515" y="4430328"/>
            <a:ext cx="1129515" cy="19117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400" b="1" dirty="0">
                <a:solidFill>
                  <a:srgbClr val="002060"/>
                </a:solidFill>
                <a:latin typeface="+mn-lt"/>
              </a:rPr>
              <a:t>Results</a:t>
            </a:r>
          </a:p>
        </p:txBody>
      </p:sp>
      <p:sp>
        <p:nvSpPr>
          <p:cNvPr id="20" name="Title 1">
            <a:extLst>
              <a:ext uri="{FF2B5EF4-FFF2-40B4-BE49-F238E27FC236}">
                <a16:creationId xmlns:a16="http://schemas.microsoft.com/office/drawing/2014/main" id="{0201E17D-C073-4726-BCB7-C258344DBDC8}"/>
              </a:ext>
            </a:extLst>
          </p:cNvPr>
          <p:cNvSpPr txBox="1">
            <a:spLocks/>
          </p:cNvSpPr>
          <p:nvPr/>
        </p:nvSpPr>
        <p:spPr>
          <a:xfrm>
            <a:off x="6370110" y="765448"/>
            <a:ext cx="1372323" cy="19117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400" b="1" dirty="0">
                <a:solidFill>
                  <a:srgbClr val="002060"/>
                </a:solidFill>
                <a:latin typeface="+mn-lt"/>
              </a:rPr>
              <a:t>Visual Interface</a:t>
            </a:r>
          </a:p>
        </p:txBody>
      </p:sp>
      <p:sp>
        <p:nvSpPr>
          <p:cNvPr id="22" name="Title 1">
            <a:extLst>
              <a:ext uri="{FF2B5EF4-FFF2-40B4-BE49-F238E27FC236}">
                <a16:creationId xmlns:a16="http://schemas.microsoft.com/office/drawing/2014/main" id="{DDDAF002-4EDB-4A40-B066-737F976566ED}"/>
              </a:ext>
            </a:extLst>
          </p:cNvPr>
          <p:cNvSpPr txBox="1">
            <a:spLocks/>
          </p:cNvSpPr>
          <p:nvPr/>
        </p:nvSpPr>
        <p:spPr>
          <a:xfrm>
            <a:off x="1315325" y="2933060"/>
            <a:ext cx="1604068" cy="19117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400" b="1" dirty="0">
                <a:solidFill>
                  <a:srgbClr val="002060"/>
                </a:solidFill>
                <a:latin typeface="+mn-lt"/>
              </a:rPr>
              <a:t>Design Choice</a:t>
            </a:r>
          </a:p>
        </p:txBody>
      </p:sp>
      <p:sp>
        <p:nvSpPr>
          <p:cNvPr id="23" name="TextBox 22">
            <a:extLst>
              <a:ext uri="{FF2B5EF4-FFF2-40B4-BE49-F238E27FC236}">
                <a16:creationId xmlns:a16="http://schemas.microsoft.com/office/drawing/2014/main" id="{321089BF-B3D5-4CE9-B234-DF5F2F16E985}"/>
              </a:ext>
            </a:extLst>
          </p:cNvPr>
          <p:cNvSpPr txBox="1"/>
          <p:nvPr/>
        </p:nvSpPr>
        <p:spPr>
          <a:xfrm>
            <a:off x="131351" y="3124237"/>
            <a:ext cx="3907250" cy="769441"/>
          </a:xfrm>
          <a:prstGeom prst="rect">
            <a:avLst/>
          </a:prstGeom>
          <a:noFill/>
        </p:spPr>
        <p:txBody>
          <a:bodyPr wrap="square" rtlCol="0">
            <a:spAutoFit/>
          </a:bodyPr>
          <a:lstStyle/>
          <a:p>
            <a:pPr algn="just"/>
            <a:r>
              <a:rPr lang="en-US" sz="1100" dirty="0"/>
              <a:t>We used Parallel Coordinate plot to visualize associations (bias scores) of different words along different groups in the word embedding. Each polyline (blue) encodes a word, and each axis represents a sensitive attribute like gender, race, religion, etc. </a:t>
            </a:r>
          </a:p>
        </p:txBody>
      </p:sp>
      <p:pic>
        <p:nvPicPr>
          <p:cNvPr id="25" name="Picture 24" descr="Chart, line chart&#10;&#10;Description automatically generated">
            <a:extLst>
              <a:ext uri="{FF2B5EF4-FFF2-40B4-BE49-F238E27FC236}">
                <a16:creationId xmlns:a16="http://schemas.microsoft.com/office/drawing/2014/main" id="{B7C3D76D-68C6-44CA-A2B9-19CF290064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139" y="3856430"/>
            <a:ext cx="3937729" cy="2456682"/>
          </a:xfrm>
          <a:prstGeom prst="rect">
            <a:avLst/>
          </a:prstGeom>
          <a:ln w="12700">
            <a:solidFill>
              <a:schemeClr val="bg1"/>
            </a:solidFill>
          </a:ln>
        </p:spPr>
      </p:pic>
      <p:graphicFrame>
        <p:nvGraphicFramePr>
          <p:cNvPr id="26" name="Table 26">
            <a:extLst>
              <a:ext uri="{FF2B5EF4-FFF2-40B4-BE49-F238E27FC236}">
                <a16:creationId xmlns:a16="http://schemas.microsoft.com/office/drawing/2014/main" id="{4D72B1AD-FD90-42BB-A19B-A7B66843D63F}"/>
              </a:ext>
            </a:extLst>
          </p:cNvPr>
          <p:cNvGraphicFramePr>
            <a:graphicFrameLocks noGrp="1"/>
          </p:cNvGraphicFramePr>
          <p:nvPr>
            <p:extLst>
              <p:ext uri="{D42A27DB-BD31-4B8C-83A1-F6EECF244321}">
                <p14:modId xmlns:p14="http://schemas.microsoft.com/office/powerpoint/2010/main" val="761614136"/>
              </p:ext>
            </p:extLst>
          </p:nvPr>
        </p:nvGraphicFramePr>
        <p:xfrm>
          <a:off x="4198620" y="4677770"/>
          <a:ext cx="5511261" cy="1965960"/>
        </p:xfrm>
        <a:graphic>
          <a:graphicData uri="http://schemas.openxmlformats.org/drawingml/2006/table">
            <a:tbl>
              <a:tblPr firstRow="1" bandRow="1">
                <a:tableStyleId>{5FD0F851-EC5A-4D38-B0AD-8093EC10F338}</a:tableStyleId>
              </a:tblPr>
              <a:tblGrid>
                <a:gridCol w="1750683">
                  <a:extLst>
                    <a:ext uri="{9D8B030D-6E8A-4147-A177-3AD203B41FA5}">
                      <a16:colId xmlns:a16="http://schemas.microsoft.com/office/drawing/2014/main" val="1178452958"/>
                    </a:ext>
                  </a:extLst>
                </a:gridCol>
                <a:gridCol w="3760578">
                  <a:extLst>
                    <a:ext uri="{9D8B030D-6E8A-4147-A177-3AD203B41FA5}">
                      <a16:colId xmlns:a16="http://schemas.microsoft.com/office/drawing/2014/main" val="727868118"/>
                    </a:ext>
                  </a:extLst>
                </a:gridCol>
              </a:tblGrid>
              <a:tr h="240759">
                <a:tc>
                  <a:txBody>
                    <a:bodyPr/>
                    <a:lstStyle/>
                    <a:p>
                      <a:pPr algn="ctr"/>
                      <a:r>
                        <a:rPr lang="en-US" sz="1100" dirty="0"/>
                        <a:t>Intersectional Groups</a:t>
                      </a:r>
                    </a:p>
                  </a:txBody>
                  <a:tcPr/>
                </a:tc>
                <a:tc>
                  <a:txBody>
                    <a:bodyPr/>
                    <a:lstStyle/>
                    <a:p>
                      <a:pPr algn="ctr"/>
                      <a:r>
                        <a:rPr lang="en-US" sz="1100" dirty="0"/>
                        <a:t>Associated Words</a:t>
                      </a:r>
                    </a:p>
                  </a:txBody>
                  <a:tcPr/>
                </a:tc>
                <a:extLst>
                  <a:ext uri="{0D108BD9-81ED-4DB2-BD59-A6C34878D82A}">
                    <a16:rowId xmlns:a16="http://schemas.microsoft.com/office/drawing/2014/main" val="948121329"/>
                  </a:ext>
                </a:extLst>
              </a:tr>
              <a:tr h="396545">
                <a:tc>
                  <a:txBody>
                    <a:bodyPr/>
                    <a:lstStyle/>
                    <a:p>
                      <a:pPr algn="ctr"/>
                      <a:r>
                        <a:rPr lang="en-US" sz="1100" dirty="0"/>
                        <a:t>Poor - Young - Black</a:t>
                      </a:r>
                    </a:p>
                  </a:txBody>
                  <a:tcPr/>
                </a:tc>
                <a:tc>
                  <a:txBody>
                    <a:bodyPr/>
                    <a:lstStyle/>
                    <a:p>
                      <a:r>
                        <a:rPr lang="en-US" sz="1100" dirty="0"/>
                        <a:t>disaster, struggle, tackle, chaos, woes, hunger, uprising, desperation, insecurity, rampage, roadblocks</a:t>
                      </a:r>
                    </a:p>
                  </a:txBody>
                  <a:tcPr/>
                </a:tc>
                <a:extLst>
                  <a:ext uri="{0D108BD9-81ED-4DB2-BD59-A6C34878D82A}">
                    <a16:rowId xmlns:a16="http://schemas.microsoft.com/office/drawing/2014/main" val="1387190056"/>
                  </a:ext>
                </a:extLst>
              </a:tr>
              <a:tr h="396545">
                <a:tc>
                  <a:txBody>
                    <a:bodyPr/>
                    <a:lstStyle/>
                    <a:p>
                      <a:pPr algn="ctr"/>
                      <a:r>
                        <a:rPr lang="en-US" sz="1100" dirty="0"/>
                        <a:t>Rich - Old - White</a:t>
                      </a:r>
                    </a:p>
                  </a:txBody>
                  <a:tcPr/>
                </a:tc>
                <a:tc>
                  <a:txBody>
                    <a:bodyPr/>
                    <a:lstStyle/>
                    <a:p>
                      <a:r>
                        <a:rPr lang="en-US" sz="1100" dirty="0"/>
                        <a:t>formal, attractive, appealing, desirable, castle, desserts, seaside, golfing, cordial, bungalow, fanciful, warmly, salty</a:t>
                      </a:r>
                    </a:p>
                  </a:txBody>
                  <a:tcPr/>
                </a:tc>
                <a:extLst>
                  <a:ext uri="{0D108BD9-81ED-4DB2-BD59-A6C34878D82A}">
                    <a16:rowId xmlns:a16="http://schemas.microsoft.com/office/drawing/2014/main" val="239501163"/>
                  </a:ext>
                </a:extLst>
              </a:tr>
              <a:tr h="396545">
                <a:tc>
                  <a:txBody>
                    <a:bodyPr/>
                    <a:lstStyle/>
                    <a:p>
                      <a:pPr algn="ctr"/>
                      <a:r>
                        <a:rPr lang="en-US" sz="1100" dirty="0"/>
                        <a:t>Black - Muslim - Male</a:t>
                      </a:r>
                    </a:p>
                  </a:txBody>
                  <a:tcPr/>
                </a:tc>
                <a:tc>
                  <a:txBody>
                    <a:bodyPr/>
                    <a:lstStyle/>
                    <a:p>
                      <a:r>
                        <a:rPr lang="en-US" sz="1100" dirty="0"/>
                        <a:t>gun, assassination, bullets, bribes, thugs, looted, dictators, electrocuted, cowards, agitating, storekeeper, looter, bleeping</a:t>
                      </a:r>
                    </a:p>
                  </a:txBody>
                  <a:tcPr/>
                </a:tc>
                <a:extLst>
                  <a:ext uri="{0D108BD9-81ED-4DB2-BD59-A6C34878D82A}">
                    <a16:rowId xmlns:a16="http://schemas.microsoft.com/office/drawing/2014/main" val="2882752080"/>
                  </a:ext>
                </a:extLst>
              </a:tr>
              <a:tr h="396545">
                <a:tc>
                  <a:txBody>
                    <a:bodyPr/>
                    <a:lstStyle/>
                    <a:p>
                      <a:pPr algn="ctr"/>
                      <a:r>
                        <a:rPr lang="en-US" sz="1100" dirty="0"/>
                        <a:t>Young - Christian - Male</a:t>
                      </a:r>
                    </a:p>
                  </a:txBody>
                  <a:tcPr/>
                </a:tc>
                <a:tc>
                  <a:txBody>
                    <a:bodyPr/>
                    <a:lstStyle/>
                    <a:p>
                      <a:r>
                        <a:rPr lang="en-US" sz="1100" dirty="0"/>
                        <a:t>career, dominant, brilliant, lone, terrific, heroes, superb, epic, monster, prowess, heavyweights, excelled, superstars</a:t>
                      </a:r>
                    </a:p>
                  </a:txBody>
                  <a:tcPr/>
                </a:tc>
                <a:extLst>
                  <a:ext uri="{0D108BD9-81ED-4DB2-BD59-A6C34878D82A}">
                    <a16:rowId xmlns:a16="http://schemas.microsoft.com/office/drawing/2014/main" val="1469521057"/>
                  </a:ext>
                </a:extLst>
              </a:tr>
            </a:tbl>
          </a:graphicData>
        </a:graphic>
      </p:graphicFrame>
      <p:sp>
        <p:nvSpPr>
          <p:cNvPr id="21" name="TextBox 20">
            <a:extLst>
              <a:ext uri="{FF2B5EF4-FFF2-40B4-BE49-F238E27FC236}">
                <a16:creationId xmlns:a16="http://schemas.microsoft.com/office/drawing/2014/main" id="{0624BB17-392A-4758-BFE0-73D7EE5D2AEC}"/>
              </a:ext>
            </a:extLst>
          </p:cNvPr>
          <p:cNvSpPr txBox="1"/>
          <p:nvPr/>
        </p:nvSpPr>
        <p:spPr>
          <a:xfrm>
            <a:off x="131350" y="6275705"/>
            <a:ext cx="3907250" cy="338554"/>
          </a:xfrm>
          <a:prstGeom prst="rect">
            <a:avLst/>
          </a:prstGeom>
          <a:noFill/>
        </p:spPr>
        <p:txBody>
          <a:bodyPr wrap="square" rtlCol="0">
            <a:spAutoFit/>
          </a:bodyPr>
          <a:lstStyle/>
          <a:p>
            <a:pPr algn="just"/>
            <a:r>
              <a:rPr lang="en-US" sz="800" dirty="0"/>
              <a:t>On Hovering over the word 'nuns', its corresponding polyline gets highlighted. We can observe its association with 'Female', 'Christianity', 'White', 'Old' and 'Poor' subgroups.</a:t>
            </a:r>
          </a:p>
        </p:txBody>
      </p:sp>
      <p:sp>
        <p:nvSpPr>
          <p:cNvPr id="24" name="TextBox 23">
            <a:extLst>
              <a:ext uri="{FF2B5EF4-FFF2-40B4-BE49-F238E27FC236}">
                <a16:creationId xmlns:a16="http://schemas.microsoft.com/office/drawing/2014/main" id="{BA8AAD94-5324-4532-B7A5-9819687F959C}"/>
              </a:ext>
            </a:extLst>
          </p:cNvPr>
          <p:cNvSpPr txBox="1"/>
          <p:nvPr/>
        </p:nvSpPr>
        <p:spPr>
          <a:xfrm>
            <a:off x="4233299" y="4043130"/>
            <a:ext cx="5511260" cy="338554"/>
          </a:xfrm>
          <a:prstGeom prst="rect">
            <a:avLst/>
          </a:prstGeom>
          <a:noFill/>
        </p:spPr>
        <p:txBody>
          <a:bodyPr wrap="square" rtlCol="0">
            <a:spAutoFit/>
          </a:bodyPr>
          <a:lstStyle/>
          <a:p>
            <a:pPr algn="just"/>
            <a:r>
              <a:rPr lang="en-US" sz="800" dirty="0"/>
              <a:t>In the above figure, the user has brushed over 'Male' and 'Islam' subgroups. Words with strong association to both these subgroups are listed below the search box like military, terrorism, terrorist, soldier, aggression, retaliation, etc.  </a:t>
            </a:r>
          </a:p>
        </p:txBody>
      </p:sp>
      <p:pic>
        <p:nvPicPr>
          <p:cNvPr id="7" name="Picture 6" descr="Chart, diagram&#10;&#10;Description automatically generated">
            <a:extLst>
              <a:ext uri="{FF2B5EF4-FFF2-40B4-BE49-F238E27FC236}">
                <a16:creationId xmlns:a16="http://schemas.microsoft.com/office/drawing/2014/main" id="{ED176A5F-CD79-4AB4-A93E-BB8B00FE59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98620" y="987105"/>
            <a:ext cx="5511262" cy="3089690"/>
          </a:xfrm>
          <a:prstGeom prst="rect">
            <a:avLst/>
          </a:prstGeom>
        </p:spPr>
      </p:pic>
    </p:spTree>
    <p:extLst>
      <p:ext uri="{BB962C8B-B14F-4D97-AF65-F5344CB8AC3E}">
        <p14:creationId xmlns:p14="http://schemas.microsoft.com/office/powerpoint/2010/main" val="246002593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1414</TotalTime>
  <Words>389</Words>
  <Application>Microsoft Office PowerPoint</Application>
  <PresentationFormat>A4 Paper (210x297 mm)</PresentationFormat>
  <Paragraphs>22</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Bhavya Ghai</dc:creator>
  <cp:lastModifiedBy>Bhavya Ghai</cp:lastModifiedBy>
  <cp:revision>51</cp:revision>
  <cp:lastPrinted>2021-03-14T23:07:22Z</cp:lastPrinted>
  <dcterms:created xsi:type="dcterms:W3CDTF">2021-03-14T00:12:55Z</dcterms:created>
  <dcterms:modified xsi:type="dcterms:W3CDTF">2021-03-18T11:44:16Z</dcterms:modified>
</cp:coreProperties>
</file>